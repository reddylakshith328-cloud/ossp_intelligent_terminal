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06500"/>
            <a:ext cx="10566400" cy="530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800" dirty="0">
                <a:solidFill>
                  <a:srgbClr val="1F2A3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042120"/>
            <a:ext cx="10566400" cy="400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F2A36"/>
                </a:solidFill>
                <a:latin typeface="Nunito" pitchFamily="34" charset="0"/>
                <a:ea typeface="Nunito" pitchFamily="34" charset="-122"/>
                <a:cs typeface="Nunito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06500"/>
            <a:ext cx="10566400" cy="530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800" dirty="0">
                <a:solidFill>
                  <a:srgbClr val="1F2A3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042120"/>
            <a:ext cx="10566400" cy="400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F2A36"/>
                </a:solidFill>
                <a:latin typeface="Nunito" pitchFamily="34" charset="0"/>
                <a:ea typeface="Nunito" pitchFamily="34" charset="-122"/>
                <a:cs typeface="Nunito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FD3C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OSSP · Review 2 · Literature Review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423220"/>
            <a:ext cx="11379200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6400" b="1" i="0" dirty="0">
                <a:solidFill>
                  <a:srgbClr val="FBF6EE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Intelligent Linux Terminal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812800" y="3429000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9DFC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What others have built, and what is still missing.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12800" y="5128320"/>
            <a:ext cx="3386634" cy="916781"/>
          </a:xfrm>
          <a:prstGeom prst="roundRect">
            <a:avLst>
              <a:gd name="adj" fmla="val 13853"/>
            </a:avLst>
          </a:prstGeom>
          <a:solidFill>
            <a:srgbClr val="2B3A4A"/>
          </a:solidFill>
          <a:ln/>
        </p:spPr>
      </p:sp>
      <p:sp>
        <p:nvSpPr>
          <p:cNvPr id="6" name="Text 4"/>
          <p:cNvSpPr/>
          <p:nvPr/>
        </p:nvSpPr>
        <p:spPr>
          <a:xfrm>
            <a:off x="1041400" y="5306120"/>
            <a:ext cx="3017317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BF6E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Lakshith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1400" y="5618460"/>
            <a:ext cx="301731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9DFC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2510030332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2634" y="5128320"/>
            <a:ext cx="3386634" cy="916781"/>
          </a:xfrm>
          <a:prstGeom prst="roundRect">
            <a:avLst>
              <a:gd name="adj" fmla="val 13853"/>
            </a:avLst>
          </a:prstGeom>
          <a:solidFill>
            <a:srgbClr val="2B3A4A"/>
          </a:solidFill>
          <a:ln/>
        </p:spPr>
      </p:sp>
      <p:sp>
        <p:nvSpPr>
          <p:cNvPr id="9" name="Text 7"/>
          <p:cNvSpPr/>
          <p:nvPr/>
        </p:nvSpPr>
        <p:spPr>
          <a:xfrm>
            <a:off x="4631234" y="5306120"/>
            <a:ext cx="3017317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BF6E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Ranadeep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31234" y="5618460"/>
            <a:ext cx="301731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9DFC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2510030337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92467" y="5128320"/>
            <a:ext cx="3386634" cy="916781"/>
          </a:xfrm>
          <a:prstGeom prst="roundRect">
            <a:avLst>
              <a:gd name="adj" fmla="val 13853"/>
            </a:avLst>
          </a:prstGeom>
          <a:solidFill>
            <a:srgbClr val="2B3A4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1067" y="5306120"/>
            <a:ext cx="3017317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BF6E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Rahul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1067" y="5618460"/>
            <a:ext cx="301731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9DFC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2510030322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Why this reading list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6500"/>
            <a:ext cx="10883392" cy="556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i="0" dirty="0">
                <a:solidFill>
                  <a:srgbClr val="1F2A36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Every idea in our title has a research story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19150" y="4122440"/>
            <a:ext cx="3373934" cy="1916410"/>
          </a:xfrm>
          <a:prstGeom prst="roundRect">
            <a:avLst>
              <a:gd name="adj" fmla="val 7621"/>
            </a:avLst>
          </a:prstGeom>
          <a:solidFill>
            <a:srgbClr val="FFFDF8"/>
          </a:solidFill>
          <a:ln w="12700">
            <a:solidFill>
              <a:srgbClr val="EADF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9500" y="4382790"/>
            <a:ext cx="293883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2A3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smarter command line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9500" y="4758630"/>
            <a:ext cx="2938831" cy="771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450" dirty="0">
                <a:solidFill>
                  <a:srgbClr val="1F2A3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Studies on adaptive UNIX shells that learn how people use the terminal.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408984" y="4122440"/>
            <a:ext cx="3373934" cy="1916410"/>
          </a:xfrm>
          <a:prstGeom prst="roundRect">
            <a:avLst>
              <a:gd name="adj" fmla="val 7621"/>
            </a:avLst>
          </a:prstGeom>
          <a:solidFill>
            <a:srgbClr val="FFFDF8"/>
          </a:solidFill>
          <a:ln w="12700">
            <a:solidFill>
              <a:srgbClr val="EADF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9334" y="4382790"/>
            <a:ext cx="2938831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2A3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Command history and suggestions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69334" y="5032871"/>
            <a:ext cx="2938831" cy="771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450" dirty="0">
                <a:solidFill>
                  <a:srgbClr val="1F2A3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Work on predicting the next command from what a user has typed before.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998817" y="4122440"/>
            <a:ext cx="3373934" cy="1916410"/>
          </a:xfrm>
          <a:prstGeom prst="roundRect">
            <a:avLst>
              <a:gd name="adj" fmla="val 7621"/>
            </a:avLst>
          </a:prstGeom>
          <a:solidFill>
            <a:srgbClr val="FFFDF8"/>
          </a:solidFill>
          <a:ln w="12700">
            <a:solidFill>
              <a:srgbClr val="EADF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9167" y="4382790"/>
            <a:ext cx="293883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2A3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Typo correction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59167" y="4758630"/>
            <a:ext cx="2938831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450" dirty="0">
                <a:solidFill>
                  <a:srgbClr val="1F2A3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Classic spelling-correction ideas that we can bring into the shell.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2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FD3C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Lesson one: people leave patterns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6500"/>
            <a:ext cx="10883392" cy="1087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i="0" dirty="0">
                <a:solidFill>
                  <a:srgbClr val="FBF6EE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Researchers taught shells to guess the next command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19150" y="4122440"/>
            <a:ext cx="3373934" cy="1916410"/>
          </a:xfrm>
          <a:prstGeom prst="roundRect">
            <a:avLst>
              <a:gd name="adj" fmla="val 7621"/>
            </a:avLst>
          </a:prstGeom>
          <a:solidFill>
            <a:srgbClr val="2B3A4A"/>
          </a:solidFill>
          <a:ln w="12700">
            <a:solidFill>
              <a:srgbClr val="3B4D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9500" y="4382790"/>
            <a:ext cx="293883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BF6E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Greenberg, 1988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9500" y="4758630"/>
            <a:ext cx="2938831" cy="771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450" dirty="0">
                <a:solidFill>
                  <a:srgbClr val="FBF6E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Collected command traces from 168 UNIX users, giving the field real usage data to study.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408984" y="4122440"/>
            <a:ext cx="3373934" cy="1916410"/>
          </a:xfrm>
          <a:prstGeom prst="roundRect">
            <a:avLst>
              <a:gd name="adj" fmla="val 7621"/>
            </a:avLst>
          </a:prstGeom>
          <a:solidFill>
            <a:srgbClr val="2B3A4A"/>
          </a:solidFill>
          <a:ln w="12700">
            <a:solidFill>
              <a:srgbClr val="3B4D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9334" y="4382790"/>
            <a:ext cx="293883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BF6E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Davison and Hirsh, 1997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69334" y="4758630"/>
            <a:ext cx="2938831" cy="771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450" dirty="0">
                <a:solidFill>
                  <a:srgbClr val="FBF6E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Tested five methods on histories from 77 people; the best reached up to 38% average accuracy.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998817" y="4122440"/>
            <a:ext cx="3373934" cy="1916410"/>
          </a:xfrm>
          <a:prstGeom prst="roundRect">
            <a:avLst>
              <a:gd name="adj" fmla="val 7621"/>
            </a:avLst>
          </a:prstGeom>
          <a:solidFill>
            <a:srgbClr val="2B3A4A"/>
          </a:solidFill>
          <a:ln w="12700">
            <a:solidFill>
              <a:srgbClr val="3B4D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9167" y="4382790"/>
            <a:ext cx="2938831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BF6E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Korvemaker and Greiner, 2000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59167" y="5032871"/>
            <a:ext cx="2938831" cy="771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450" dirty="0">
                <a:solidFill>
                  <a:srgbClr val="FBF6E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Predicted the next command almost 50% of the time on real data and found further gains hard.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Lesson two: fix the word, understand the intent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6500"/>
            <a:ext cx="10883392" cy="1087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i="0" dirty="0">
                <a:solidFill>
                  <a:srgbClr val="1F2A36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From spelling fixes to plain-English commands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19150" y="3873897"/>
            <a:ext cx="3373934" cy="2164953"/>
          </a:xfrm>
          <a:prstGeom prst="roundRect">
            <a:avLst>
              <a:gd name="adj" fmla="val 6746"/>
            </a:avLst>
          </a:prstGeom>
          <a:solidFill>
            <a:srgbClr val="FFFDF8"/>
          </a:solidFill>
          <a:ln w="12700">
            <a:solidFill>
              <a:srgbClr val="EADF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9500" y="4134247"/>
            <a:ext cx="293883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2A3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Edit distance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9500" y="4510088"/>
            <a:ext cx="2938831" cy="1019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450" dirty="0">
                <a:solidFill>
                  <a:srgbClr val="1F2A3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Damerau (1964) and Levenshtein (1966) showed how to measure and repair small spelling mistakes.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408984" y="3873897"/>
            <a:ext cx="3373934" cy="2164953"/>
          </a:xfrm>
          <a:prstGeom prst="roundRect">
            <a:avLst>
              <a:gd name="adj" fmla="val 6746"/>
            </a:avLst>
          </a:prstGeom>
          <a:solidFill>
            <a:srgbClr val="FFFDF8"/>
          </a:solidFill>
          <a:ln w="12700">
            <a:solidFill>
              <a:srgbClr val="EADF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9334" y="4134247"/>
            <a:ext cx="293883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2A3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NL2Bash, 2018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69334" y="4510088"/>
            <a:ext cx="2938831" cy="771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450" dirty="0">
                <a:solidFill>
                  <a:srgbClr val="1F2A3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Lin et al. built a dataset pairing everyday English with Bash commands across 100+ utilities.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998817" y="3873897"/>
            <a:ext cx="3373934" cy="2164953"/>
          </a:xfrm>
          <a:prstGeom prst="roundRect">
            <a:avLst>
              <a:gd name="adj" fmla="val 6746"/>
            </a:avLst>
          </a:prstGeom>
          <a:solidFill>
            <a:srgbClr val="FFFDF8"/>
          </a:solidFill>
          <a:ln w="12700">
            <a:solidFill>
              <a:srgbClr val="EADF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9167" y="4134247"/>
            <a:ext cx="2938831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2A3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Command prediction patent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59167" y="4784328"/>
            <a:ext cx="2938831" cy="1019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450" dirty="0">
                <a:solidFill>
                  <a:srgbClr val="1F2A3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US patent describes predicting commands from the history of many users, weighted by role and time.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FD3C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Putting the papers side by side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6500"/>
            <a:ext cx="10883392" cy="556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i="0" dirty="0">
                <a:solidFill>
                  <a:srgbClr val="FBF6EE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Strong ideas, each with a blind spot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90600" y="4054078"/>
            <a:ext cx="340106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FD3C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Approach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445000" y="4054078"/>
            <a:ext cx="340106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FD3C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Strength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899400" y="4054078"/>
            <a:ext cx="340106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FD3C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Limitation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12800" y="4386759"/>
            <a:ext cx="10566400" cy="485080"/>
          </a:xfrm>
          <a:prstGeom prst="roundRect">
            <a:avLst>
              <a:gd name="adj" fmla="val 20945"/>
            </a:avLst>
          </a:prstGeom>
          <a:solidFill>
            <a:srgbClr val="2B3A4A"/>
          </a:solidFill>
          <a:ln/>
        </p:spPr>
      </p:sp>
      <p:sp>
        <p:nvSpPr>
          <p:cNvPr id="8" name="Text 6"/>
          <p:cNvSpPr/>
          <p:nvPr/>
        </p:nvSpPr>
        <p:spPr>
          <a:xfrm>
            <a:off x="990600" y="4513759"/>
            <a:ext cx="340106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BF6E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Command prediction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45000" y="4513759"/>
            <a:ext cx="340106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BF6E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Learns from real user habits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899400" y="4513759"/>
            <a:ext cx="340106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BF6E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Predicts only; no typo help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2800" y="4973439"/>
            <a:ext cx="10566400" cy="485080"/>
          </a:xfrm>
          <a:prstGeom prst="roundRect">
            <a:avLst>
              <a:gd name="adj" fmla="val 20945"/>
            </a:avLst>
          </a:prstGeom>
          <a:solidFill>
            <a:srgbClr val="2B3A4A"/>
          </a:solidFill>
          <a:ln/>
        </p:spPr>
      </p:sp>
      <p:sp>
        <p:nvSpPr>
          <p:cNvPr id="12" name="Text 10"/>
          <p:cNvSpPr/>
          <p:nvPr/>
        </p:nvSpPr>
        <p:spPr>
          <a:xfrm>
            <a:off x="990600" y="5100439"/>
            <a:ext cx="340106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BF6E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Edit-distance correction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45000" y="5100439"/>
            <a:ext cx="340106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BF6E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Simple and well proven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899400" y="5100439"/>
            <a:ext cx="340106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BF6E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Not tied to a shell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2800" y="5560120"/>
            <a:ext cx="10566400" cy="485080"/>
          </a:xfrm>
          <a:prstGeom prst="roundRect">
            <a:avLst>
              <a:gd name="adj" fmla="val 20945"/>
            </a:avLst>
          </a:prstGeom>
          <a:solidFill>
            <a:srgbClr val="2B3A4A"/>
          </a:solidFill>
          <a:ln/>
        </p:spPr>
      </p:sp>
      <p:sp>
        <p:nvSpPr>
          <p:cNvPr id="16" name="Text 14"/>
          <p:cNvSpPr/>
          <p:nvPr/>
        </p:nvSpPr>
        <p:spPr>
          <a:xfrm>
            <a:off x="990600" y="5687120"/>
            <a:ext cx="340106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BF6E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NL2Bash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45000" y="5687120"/>
            <a:ext cx="340106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BF6E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Plain English to commands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899400" y="5687120"/>
            <a:ext cx="340106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BF6E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Translation, not everyday typing help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7A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3F1E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gap we found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6500"/>
            <a:ext cx="10883392" cy="1087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i="0" dirty="0">
                <a:solidFill>
                  <a:srgbClr val="FBF6EE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Help for typing is scattered across separate ideas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12800" y="4389834"/>
            <a:ext cx="5181600" cy="1655366"/>
          </a:xfrm>
          <a:prstGeom prst="roundRect">
            <a:avLst>
              <a:gd name="adj" fmla="val 9206"/>
            </a:avLst>
          </a:prstGeom>
          <a:solidFill>
            <a:srgbClr val="176258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4643834"/>
            <a:ext cx="4813808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BF6E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What the papers leave open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6800" y="5019675"/>
            <a:ext cx="4813808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BF6E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 the work we reviewed, prediction, spelling repair and command translation are studied apart, not together in one working shell.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97600" y="4389834"/>
            <a:ext cx="5181600" cy="1655366"/>
          </a:xfrm>
          <a:prstGeom prst="roundRect">
            <a:avLst>
              <a:gd name="adj" fmla="val 9206"/>
            </a:avLst>
          </a:prstGeom>
          <a:solidFill>
            <a:srgbClr val="FBF6EE"/>
          </a:solidFill>
          <a:ln/>
        </p:spPr>
      </p:sp>
      <p:sp>
        <p:nvSpPr>
          <p:cNvPr id="8" name="Text 6"/>
          <p:cNvSpPr/>
          <p:nvPr/>
        </p:nvSpPr>
        <p:spPr>
          <a:xfrm>
            <a:off x="6451600" y="4643834"/>
            <a:ext cx="4813808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How our project fills it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51600" y="5019675"/>
            <a:ext cx="4813808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F2A3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We combine history, suggestions and typo correction inside a shell we wrote ourselves in C, backed by a command dataset we are now building.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Where we learned it from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6500"/>
            <a:ext cx="10883392" cy="556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i="0" dirty="0">
                <a:solidFill>
                  <a:srgbClr val="1F2A36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Sources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04494" y="4108450"/>
            <a:ext cx="10784078" cy="1758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306" indent="-16230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1F2A3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Greenberg, S. (1988). Using UNIX: Collected traces of 168 users. Univ. of Calgary.</a:t>
            </a:r>
            <a:endParaRPr lang="en-US" sz="1300" dirty="0"/>
          </a:p>
          <a:p>
            <a:pPr algn="l" marL="162306" indent="-16230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1F2A3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Davison, B. D., and Hirsh, H. (1997). Experiments in UNIX command prediction. AAAI.</a:t>
            </a:r>
            <a:endParaRPr lang="en-US" sz="1300" dirty="0"/>
          </a:p>
          <a:p>
            <a:pPr algn="l" marL="162306" indent="-16230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1F2A3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Korvemaker, B., and Greiner, R. (2000). Predicting UNIX command lines. AAAI.</a:t>
            </a:r>
            <a:endParaRPr lang="en-US" sz="1300" dirty="0"/>
          </a:p>
          <a:p>
            <a:pPr algn="l" marL="162306" indent="-16230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1F2A3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Lin, X. V., et al. (2018). NL2Bash. LREC, Miyazaki, Japan.</a:t>
            </a:r>
            <a:endParaRPr lang="en-US" sz="1300" dirty="0"/>
          </a:p>
          <a:p>
            <a:pPr algn="l" marL="162306" indent="-16230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1F2A3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Damerau, F. J. (1964). Detection and correction of spelling errors. CACM.</a:t>
            </a:r>
            <a:endParaRPr lang="en-US" sz="1300" dirty="0"/>
          </a:p>
          <a:p>
            <a:pPr algn="l" marL="162306" indent="-16230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1F2A3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Levenshtein, V. I. (1966). Binary codes capable of correcting deletions, insertions and reversals.</a:t>
            </a:r>
            <a:endParaRPr lang="en-US" sz="1300" dirty="0"/>
          </a:p>
          <a:p>
            <a:pPr algn="l" marL="162306" indent="-16230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1F2A3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 Patent 8,627,230. Intelligent command prediction.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2800" y="6184900"/>
            <a:ext cx="344054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7A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Thank you! Questions welcome.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elligent Linux Terminal – Review 2 (Literature Review)">
  <a:themeElements>
    <a:clrScheme name="Intelligent Linux Terminal – Review 2 (Literature Review)">
      <a:dk1>
        <a:srgbClr val="1F2A36"/>
      </a:dk1>
      <a:lt1>
        <a:srgbClr val="FBF6EE"/>
      </a:lt1>
      <a:dk2>
        <a:srgbClr val="565D64"/>
      </a:dk2>
      <a:lt2>
        <a:srgbClr val="E5E2DC"/>
      </a:lt2>
      <a:accent1>
        <a:srgbClr val="8FD3C7"/>
      </a:accent1>
      <a:accent2>
        <a:srgbClr val="1F7A72"/>
      </a:accent2>
      <a:accent3>
        <a:srgbClr val="176258"/>
      </a:accent3>
      <a:accent4>
        <a:srgbClr val="E9DFCF"/>
      </a:accent4>
      <a:accent5>
        <a:srgbClr val="D3F1EA"/>
      </a:accent5>
      <a:accent6>
        <a:srgbClr val="9AA0A6"/>
      </a:accent6>
      <a:hlink>
        <a:srgbClr val="0563C1"/>
      </a:hlink>
      <a:folHlink>
        <a:srgbClr val="954F72"/>
      </a:folHlink>
    </a:clrScheme>
    <a:fontScheme name="Intelligent Linux Terminal – Review 2 (Literature Review)">
      <a:majorFont>
        <a:latin typeface="Nun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un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Linux Terminal – Review 2 (Literature Review)</dc:title>
  <dc:subject/>
  <dc:creator/>
  <cp:lastModifiedBy/>
  <cp:revision>1</cp:revision>
  <dcterms:created xsi:type="dcterms:W3CDTF">2026-10-08T13:20:48Z</dcterms:created>
  <dcterms:modified xsi:type="dcterms:W3CDTF">2026-10-08T13:20:48Z</dcterms:modified>
</cp:coreProperties>
</file>