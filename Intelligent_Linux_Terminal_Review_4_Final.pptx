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6" r:id="rId7"/>
    <p:sldId id="267" r:id="rId8"/>
    <p:sldId id="260" r:id="rId9"/>
    <p:sldId id="261" r:id="rId10"/>
    <p:sldId id="262" r:id="rId11"/>
    <p:sldId id="263" r:id="rId12"/>
    <p:sldId id="264" r:id="rId13"/>
    <p:sldId id="265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731520" y="1143000"/>
            <a:ext cx="79552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Aptos Display"/>
              </a:defRPr>
            </a:pPr>
            <a:r>
              <a:t>INTELLIGENT</a:t>
            </a:r>
            <a:br/>
            <a:r>
              <a:t>LINUX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78892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2E8F0"/>
                </a:solidFill>
                <a:latin typeface="Aptos"/>
              </a:defRPr>
            </a:pPr>
            <a:r>
              <a:t>A smarter and more user-friendly command-line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80060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Lakshith : 2510030332</a:t>
            </a:r>
          </a:p>
          <a:p>
            <a:pPr>
              <a:spcAft>
                <a:spcPts val="5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Ranadeep : 2510030337</a:t>
            </a:r>
          </a:p>
          <a:p>
            <a:pPr>
              <a:spcAft>
                <a:spcPts val="5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Rahul : 2510030322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Why a better command-line experience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Ins="164592" bIns="109728" rtlCol="0" anchor="ctr"/>
          <a:lstStyle/>
          <a:p>
            <a:pPr algn="ctr"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Users need to remember many commands and options.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Small typing mistakes can cause failed commands.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Beginners may find system messages difficult to understand.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Frequently used commands often have to be typed again.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A simple, helpful interface can reduce unnecessary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82512" y="1691639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655063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Difficulty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58568"/>
            <a:ext cx="467258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Remembering commands takes time, especially for new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310896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072384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Typing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675888"/>
            <a:ext cx="467258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A single missing or incorrect character can interrupt a task.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43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452628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489704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093208"/>
            <a:ext cx="467258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Clear guidance can make the terminal easier to learn and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2.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An intelligent terminal focused on speed, guidance and convenience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User enters a command</a:t>
            </a:r>
          </a:p>
        </p:txBody>
      </p:sp>
      <p:sp>
        <p:nvSpPr>
          <p:cNvPr id="9" name="Chevron 8"/>
          <p:cNvSpPr/>
          <p:nvPr/>
        </p:nvSpPr>
        <p:spPr>
          <a:xfrm>
            <a:off x="3127248" y="2423160"/>
            <a:ext cx="347472" cy="45720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39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Terminal understands the request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16168" y="2423160"/>
            <a:ext cx="347472" cy="45720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Helpful suggestion or correction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8705088" y="2423160"/>
            <a:ext cx="347472" cy="45720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Command is carried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069080"/>
            <a:ext cx="9875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Ins="164592" bIns="109728" rtlCol="0" anchor="ctr"/>
          <a:lstStyle/>
          <a:p>
            <a:pPr algn="ctr"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The goal is not to replace the terminal — it is to make everyday terminal use easier.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The design supports both beginners and experienced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3.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The main intelligent capabilities proposed in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69163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1655063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Command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Quickly revisit commands that were used earlier.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0876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1" y="1691639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1655063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Auto-Suggestions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258568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Offer likely commands while the user is working.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84048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4752" y="380390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Typo 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407408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Recognize common mistakes and suggest the intended 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65760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1" y="384048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380390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Error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4407408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Explain problems in a clearer and more useful way.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715000"/>
            <a:ext cx="845820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Example:  pythn  →  python  •  “Try this command instead?”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4.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Screenshots from our running ShellForge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1" name="Card History"/>
          <p:cNvSpPr/>
          <p:nvPr/>
        </p:nvSpPr>
        <p:spPr>
          <a:xfrm>
            <a:off x="594360" y="1463040"/>
            <a:ext cx="32004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" name="History Screenshot" descr="Terminal output of the history comma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2980944" cy="3025106"/>
          </a:xfrm>
          <a:prstGeom prst="rect">
            <a:avLst/>
          </a:prstGeom>
        </p:spPr>
      </p:pic>
      <p:sp>
        <p:nvSpPr>
          <p:cNvPr id="103" name="Caption History"/>
          <p:cNvSpPr txBox="1"/>
          <p:nvPr/>
        </p:nvSpPr>
        <p:spPr>
          <a:xfrm>
            <a:off x="704088" y="4707602"/>
            <a:ext cx="2980944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0F172A"/>
                </a:solidFill>
                <a:latin typeface="Aptos Display"/>
              </a:rPr>
              <a:t>Command History</a:t>
            </a:r>
            <a:endParaRPr lang="en-US" sz="1400" b="1">
              <a:solidFill>
                <a:srgbClr val="0F172A"/>
              </a:solidFill>
              <a:latin typeface="Aptos Display"/>
            </a:endParaRPr>
          </a:p>
          <a:p>
            <a:r>
              <a:rPr lang="en-US" sz="1100">
                <a:solidFill>
                  <a:srgbClr val="475569"/>
                </a:solidFill>
                <a:latin typeface="Aptos"/>
              </a:rPr>
              <a:t>The history command lists earlier commands so they can be reused.</a:t>
            </a:r>
            <a:endParaRPr lang="en-US" sz="110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04" name="Card Suggest"/>
          <p:cNvSpPr/>
          <p:nvPr/>
        </p:nvSpPr>
        <p:spPr>
          <a:xfrm>
            <a:off x="4069080" y="1463040"/>
            <a:ext cx="32004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Suggest Screenshot" descr="Terminal output of pipe, redirection and sugg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572768"/>
            <a:ext cx="2980944" cy="3117606"/>
          </a:xfrm>
          <a:prstGeom prst="rect">
            <a:avLst/>
          </a:prstGeom>
        </p:spPr>
      </p:pic>
      <p:sp>
        <p:nvSpPr>
          <p:cNvPr id="106" name="Caption Suggest"/>
          <p:cNvSpPr txBox="1"/>
          <p:nvPr/>
        </p:nvSpPr>
        <p:spPr>
          <a:xfrm>
            <a:off x="4178808" y="4800102"/>
            <a:ext cx="2980944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0F172A"/>
                </a:solidFill>
                <a:latin typeface="Aptos Display"/>
              </a:rPr>
              <a:t>Suggestions &amp; Execution</a:t>
            </a:r>
            <a:endParaRPr lang="en-US" sz="1400" b="1">
              <a:solidFill>
                <a:srgbClr val="0F172A"/>
              </a:solidFill>
              <a:latin typeface="Aptos Display"/>
            </a:endParaRPr>
          </a:p>
          <a:p>
            <a:r>
              <a:rPr lang="en-US" sz="1100">
                <a:solidFill>
                  <a:srgbClr val="475569"/>
                </a:solidFill>
                <a:latin typeface="Aptos"/>
              </a:rPr>
              <a:t>Pipes and redirection run normally; suggest lists likely commands.</a:t>
            </a:r>
            <a:endParaRPr lang="en-US" sz="110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07" name="Card Typo"/>
          <p:cNvSpPr/>
          <p:nvPr/>
        </p:nvSpPr>
        <p:spPr>
          <a:xfrm>
            <a:off x="7543800" y="1463040"/>
            <a:ext cx="402336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Typo Screenshot" descr="Terminal suggesting python for pythn with error guid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1572768"/>
            <a:ext cx="3803904" cy="1514246"/>
          </a:xfrm>
          <a:prstGeom prst="rect">
            <a:avLst/>
          </a:prstGeom>
        </p:spPr>
      </p:pic>
      <p:sp>
        <p:nvSpPr>
          <p:cNvPr id="109" name="Caption Typo"/>
          <p:cNvSpPr txBox="1"/>
          <p:nvPr/>
        </p:nvSpPr>
        <p:spPr>
          <a:xfrm>
            <a:off x="7653528" y="3178454"/>
            <a:ext cx="3803904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0F172A"/>
                </a:solidFill>
                <a:latin typeface="Aptos Display"/>
              </a:rPr>
              <a:t>Typo Correction</a:t>
            </a:r>
            <a:endParaRPr lang="en-US" sz="1400" b="1">
              <a:solidFill>
                <a:srgbClr val="0F172A"/>
              </a:solidFill>
              <a:latin typeface="Aptos Display"/>
            </a:endParaRPr>
          </a:p>
          <a:p>
            <a:r>
              <a:rPr lang="en-US" sz="1100">
                <a:solidFill>
                  <a:srgbClr val="475569"/>
                </a:solidFill>
                <a:latin typeface="Aptos"/>
              </a:rPr>
              <a:t>pythn gets “Did you mean: python?” plus guidance and a Tab shortcut.</a:t>
            </a:r>
            <a:endParaRPr lang="en-US" sz="110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10" name="Card Error"/>
          <p:cNvSpPr/>
          <p:nvPr/>
        </p:nvSpPr>
        <p:spPr>
          <a:xfrm>
            <a:off x="7543800" y="4023360"/>
            <a:ext cx="40233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Error Screenshot" descr="Terminal error guidance after cd to a missing direc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4133088"/>
            <a:ext cx="3803904" cy="848987"/>
          </a:xfrm>
          <a:prstGeom prst="rect">
            <a:avLst/>
          </a:prstGeom>
        </p:spPr>
      </p:pic>
      <p:sp>
        <p:nvSpPr>
          <p:cNvPr id="112" name="Caption Error"/>
          <p:cNvSpPr txBox="1"/>
          <p:nvPr/>
        </p:nvSpPr>
        <p:spPr>
          <a:xfrm>
            <a:off x="7653528" y="5073515"/>
            <a:ext cx="3803904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0F172A"/>
                </a:solidFill>
                <a:latin typeface="Aptos Display"/>
              </a:rPr>
              <a:t>Error Guidance</a:t>
            </a:r>
            <a:endParaRPr lang="en-US" sz="1400" b="1">
              <a:solidFill>
                <a:srgbClr val="0F172A"/>
              </a:solidFill>
              <a:latin typeface="Aptos Display"/>
            </a:endParaRPr>
          </a:p>
          <a:p>
            <a:r>
              <a:rPr lang="en-US" sz="1100">
                <a:solidFill>
                  <a:srgbClr val="475569"/>
                </a:solidFill>
                <a:latin typeface="Aptos"/>
              </a:rPr>
              <a:t>Clear next steps appear after a failed cd.</a:t>
            </a:r>
            <a:endParaRPr lang="en-US" sz="110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13" name="Note Bar"/>
          <p:cNvSpPr/>
          <p:nvPr/>
        </p:nvSpPr>
        <p:spPr>
          <a:xfrm>
            <a:off x="1828800" y="5852160"/>
            <a:ext cx="8531352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300" b="1">
                <a:solidFill>
                  <a:srgbClr val="F8FAFC"/>
                </a:solidFill>
                <a:latin typeface="Aptos"/>
              </a:rPr>
              <a:t>Real output from the working ShellForge prototype</a:t>
            </a:r>
            <a:endParaRPr lang="en-US" sz="1300" b="1">
              <a:solidFill>
                <a:srgbClr val="F8FA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5. Normal vs Intelligent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How our terminal improves everyday command-line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101" name="Comparison Table" descr="Comparison of a normal terminal and the Intelligent Linux Terminal"/>
          <p:cNvGraphicFramePr>
            <a:graphicFrameLocks noGrp="1"/>
          </p:cNvGraphicFramePr>
          <p:nvPr/>
        </p:nvGraphicFramePr>
        <p:xfrm>
          <a:off x="594360" y="1463040"/>
          <a:ext cx="10972800" cy="4425696"/>
        </p:xfrm>
        <a:graphic>
          <a:graphicData uri="http://schemas.openxmlformats.org/drawingml/2006/table">
            <a:tbl>
              <a:tblPr firstRow="1"/>
              <a:tblGrid>
                <a:gridCol w="3291840"/>
                <a:gridCol w="3291840"/>
                <a:gridCol w="4389120"/>
              </a:tblGrid>
              <a:tr h="402336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Feature</a:t>
                      </a:r>
                      <a:endParaRPr lang="en-US" sz="1300" b="1">
                        <a:solidFill>
                          <a:srgbClr val="FFFFFF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Normal Terminal</a:t>
                      </a:r>
                      <a:endParaRPr lang="en-US" sz="1300" b="1">
                        <a:solidFill>
                          <a:srgbClr val="FFFFFF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Intelligent Linux Terminal</a:t>
                      </a:r>
                      <a:endParaRPr lang="en-US" sz="1300" b="1">
                        <a:solidFill>
                          <a:srgbClr val="FFFFFF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Execute Linux commands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</a:t>
                      </a:r>
                      <a:endParaRPr lang="en-US" sz="1400" b="1">
                        <a:solidFill>
                          <a:srgbClr val="0596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</a:t>
                      </a:r>
                      <a:endParaRPr lang="en-US" sz="1400" b="1">
                        <a:solidFill>
                          <a:srgbClr val="0596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ls, pwd, cd, etc.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</a:t>
                      </a:r>
                      <a:endParaRPr lang="en-US" sz="1400" b="1">
                        <a:solidFill>
                          <a:srgbClr val="0596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</a:t>
                      </a:r>
                      <a:endParaRPr lang="en-US" sz="1400" b="1">
                        <a:solidFill>
                          <a:srgbClr val="0596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Command history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755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Basic shell history</a:t>
                      </a:r>
                      <a:endParaRPr lang="en-US" sz="1200">
                        <a:solidFill>
                          <a:srgbClr val="4755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 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Integrated history</a:t>
                      </a:r>
                      <a:endParaRPr lang="en-US" sz="1200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Auto-suggestions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755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Usually limited / configurable</a:t>
                      </a:r>
                      <a:endParaRPr lang="en-US" sz="1200">
                        <a:solidFill>
                          <a:srgbClr val="4755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 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Built-in</a:t>
                      </a:r>
                      <a:endParaRPr lang="en-US" sz="1200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Typo detection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DC2626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✗</a:t>
                      </a:r>
                      <a:endParaRPr lang="en-US" sz="1400" b="1">
                        <a:solidFill>
                          <a:srgbClr val="DC2626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</a:t>
                      </a:r>
                      <a:endParaRPr lang="en-US" sz="1400" b="1">
                        <a:solidFill>
                          <a:srgbClr val="0596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Typo correction suggestions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DC2626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✗</a:t>
                      </a:r>
                      <a:endParaRPr lang="en-US" sz="1400" b="1">
                        <a:solidFill>
                          <a:srgbClr val="DC2626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 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pythn → python</a:t>
                      </a:r>
                      <a:endParaRPr lang="en-US" sz="1200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Error guidance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755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Mostly raw error messages</a:t>
                      </a:r>
                      <a:endParaRPr lang="en-US" sz="1200">
                        <a:solidFill>
                          <a:srgbClr val="4755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 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Explains what to do</a:t>
                      </a:r>
                      <a:endParaRPr lang="en-US" sz="1200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Beginner friendly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755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Moderate</a:t>
                      </a:r>
                      <a:endParaRPr lang="en-US" sz="1200">
                        <a:solidFill>
                          <a:srgbClr val="4755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E293B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Higher</a:t>
                      </a:r>
                      <a:endParaRPr lang="en-US" sz="1200">
                        <a:solidFill>
                          <a:srgbClr val="1E293B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Web interface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DC2626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✗</a:t>
                      </a:r>
                      <a:endParaRPr lang="en-US" sz="1400" b="1">
                        <a:solidFill>
                          <a:srgbClr val="DC2626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 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Available</a:t>
                      </a:r>
                      <a:endParaRPr lang="en-US" sz="1200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F172A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Intelligent assistance</a:t>
                      </a:r>
                      <a:endParaRPr lang="en-US" sz="1200" b="1">
                        <a:solidFill>
                          <a:srgbClr val="0F172A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DC2626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✗</a:t>
                      </a:r>
                      <a:endParaRPr lang="en-US" sz="1400" b="1">
                        <a:solidFill>
                          <a:srgbClr val="DC2626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59669"/>
                          </a:solidFill>
                          <a:latin typeface="Aptos"/>
                          <a:ea typeface="Segoe UI Symbol"/>
                          <a:sym typeface="Segoe UI Symbol"/>
                        </a:rPr>
                        <a:t>✓</a:t>
                      </a:r>
                      <a:endParaRPr lang="en-US" sz="1400" b="1">
                        <a:solidFill>
                          <a:srgbClr val="059669"/>
                        </a:solidFill>
                        <a:latin typeface="Aptos"/>
                        <a:ea typeface="Segoe UI Symbol"/>
                        <a:sym typeface="Segoe UI Symbol"/>
                      </a:endParaRPr>
                    </a:p>
                  </a:txBody>
                  <a:tcPr marL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6.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What the project aims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563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Easy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67128"/>
            <a:ext cx="3072384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Reduce the effort needed to work with Linux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160020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563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Faster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167128"/>
            <a:ext cx="3072384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Help users reach frequently used commands quickly.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160020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1563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Fewer mistakes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167128"/>
            <a:ext cx="3072384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Detect common typing problems before they waste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38862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9032" y="3849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Better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453128"/>
            <a:ext cx="3072384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Give beginners useful guidance instead of confusing failures.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703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2" y="38862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3849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Reliable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4453128"/>
            <a:ext cx="3072384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Maintain a dependable experience for normal command-line tasks.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703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9912" y="3886200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3849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Practical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4453128"/>
            <a:ext cx="3072384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Build a useful tool that can support real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7. How the User Experience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Simple flow from input to useful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1508760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Aptos"/>
              </a:defRPr>
            </a:pPr>
            <a:r>
              <a:t>User types a command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542032" y="1709928"/>
            <a:ext cx="320040" cy="32004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1" y="1508760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1" y="23317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1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Aptos"/>
              </a:defRPr>
            </a:pPr>
            <a:r>
              <a:t>The terminal checks the input</a:t>
            </a:r>
          </a:p>
        </p:txBody>
      </p:sp>
      <p:sp>
        <p:nvSpPr>
          <p:cNvPr id="15" name="Chevron 14"/>
          <p:cNvSpPr/>
          <p:nvPr/>
        </p:nvSpPr>
        <p:spPr>
          <a:xfrm>
            <a:off x="4809744" y="1709928"/>
            <a:ext cx="320040" cy="32004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9864" y="1508760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3317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Assist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Aptos"/>
              </a:defRPr>
            </a:pPr>
            <a:r>
              <a:t>History, suggestion or correction can help</a:t>
            </a:r>
          </a:p>
        </p:txBody>
      </p:sp>
      <p:sp>
        <p:nvSpPr>
          <p:cNvPr id="19" name="Chevron 18"/>
          <p:cNvSpPr/>
          <p:nvPr/>
        </p:nvSpPr>
        <p:spPr>
          <a:xfrm>
            <a:off x="7077456" y="1709928"/>
            <a:ext cx="320040" cy="32004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37575" y="1508760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5" y="23317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Aptos"/>
              </a:defRPr>
            </a:pPr>
            <a:r>
              <a:t>The requested action is performed</a:t>
            </a:r>
          </a:p>
        </p:txBody>
      </p:sp>
      <p:sp>
        <p:nvSpPr>
          <p:cNvPr id="23" name="Chevron 22"/>
          <p:cNvSpPr/>
          <p:nvPr/>
        </p:nvSpPr>
        <p:spPr>
          <a:xfrm>
            <a:off x="9345167" y="1709928"/>
            <a:ext cx="320040" cy="32004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05288" y="1508760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23317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Aptos"/>
              </a:defRPr>
            </a:pPr>
            <a:r>
              <a:t>Clear feedback helps the user 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389120"/>
            <a:ext cx="9966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Ins="164592" bIns="109728" rtlCol="0" anchor="ctr"/>
          <a:lstStyle/>
          <a:p>
            <a:pPr algn="ctr"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The experience is designed to feel familiar while adding helpful assistance at the right moment.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8. Accuracy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How the project can be evaluated fairly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6002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156362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Correct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167128"/>
            <a:ext cx="4809744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Normal commands should execute as expected.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1732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1" y="160020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156362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Common typos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167128"/>
            <a:ext cx="4809744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Known mistakes should produce a useful correction or suggestion.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74904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0472" y="371246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Repeated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315968"/>
            <a:ext cx="4809744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Previously used commands should be easy to retrieve.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5661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1" y="3749040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371246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Invalid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4315968"/>
            <a:ext cx="4809744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The terminal should respond clearly instead of leaving the user confused.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623560"/>
            <a:ext cx="850392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93B"/>
                </a:solidFill>
                <a:latin typeface="Aptos"/>
              </a:defRPr>
            </a:pPr>
            <a:r>
              <a:t>Evaluation principle: correct output + useful guidance + consistent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9. Innovation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Why the idea can remain useful beyond the first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60020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1563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67128"/>
            <a:ext cx="3072384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Combines a familiar terminal experience with assistance features that respond to the user's previous activity and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2" y="16002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1563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Sustainability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67128"/>
            <a:ext cx="3072384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A lightweight software solution can improve productivity without requiring additional physical infrastructure.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41732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9871" y="16002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563624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Future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167128"/>
            <a:ext cx="3072384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The concept can be expanded with better suggestions, richer guidance, accessibility support and more personalized assistance.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349240"/>
            <a:ext cx="9418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Ins="164592" bIns="109728" rtlCol="0" anchor="ctr"/>
          <a:lstStyle/>
          <a:p>
            <a:pPr algn="ctr">
              <a:spcAft>
                <a:spcPts val="10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 Designed to evolve through incremental improvements rather than replacing the whole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10. Utility to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Who benefits and 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55448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151790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Learn Linux more comfortably and spend less time memorizing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371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1" y="155448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151790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Beginners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121408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Receive clearer guidance when a command is unfamiliar or mistyped.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79476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4752" y="375818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Developers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61688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Reduce repetitive typing and quickly reuse common commands.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611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1" y="379476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3758184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System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4361688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ptos"/>
              </a:defRPr>
            </a:pPr>
            <a:r>
              <a:t>Get a more approachable interface for everyday Linux tasks.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5669280"/>
            <a:ext cx="8229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Social value: less frustration • faster learning • better productivity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11. Conclusion &amp; Review 4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 practical project with clear scope and room for meaningful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Accuracy</a:t>
            </a:r>
          </a:p>
          <a:p>
            <a:pPr algn="ctr">
              <a:spcBef>
                <a:spcPts val="1500"/>
              </a:spcBef>
              <a:defRPr sz="1250">
                <a:solidFill>
                  <a:srgbClr val="1E293B"/>
                </a:solidFill>
                <a:latin typeface="Aptos"/>
              </a:defRPr>
            </a:pPr>
            <a:r>
              <a:t>Reliable command behavior</a:t>
            </a:r>
            <a:br/>
            <a:r>
              <a:t>and clear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5087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Competence</a:t>
            </a:r>
          </a:p>
          <a:p>
            <a:pPr algn="ctr">
              <a:spcBef>
                <a:spcPts val="1500"/>
              </a:spcBef>
              <a:defRPr sz="1250">
                <a:solidFill>
                  <a:srgbClr val="1E293B"/>
                </a:solidFill>
                <a:latin typeface="Aptos"/>
              </a:defRPr>
            </a:pPr>
            <a:r>
              <a:t>Functional terminal</a:t>
            </a:r>
            <a:br/>
            <a:r>
              <a:t>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2936" y="15087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Innovation</a:t>
            </a:r>
          </a:p>
          <a:p>
            <a:pPr algn="ctr">
              <a:spcBef>
                <a:spcPts val="1500"/>
              </a:spcBef>
              <a:defRPr sz="1250">
                <a:solidFill>
                  <a:srgbClr val="1E293B"/>
                </a:solidFill>
                <a:latin typeface="Aptos"/>
              </a:defRPr>
            </a:pPr>
            <a:r>
              <a:t>History + suggestions +</a:t>
            </a:r>
            <a:br/>
            <a:r>
              <a:t>correction +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7224" y="15087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Utility</a:t>
            </a:r>
          </a:p>
          <a:p>
            <a:pPr algn="ctr">
              <a:spcBef>
                <a:spcPts val="1500"/>
              </a:spcBef>
              <a:defRPr sz="1250">
                <a:solidFill>
                  <a:srgbClr val="1E293B"/>
                </a:solidFill>
                <a:latin typeface="Aptos"/>
              </a:defRPr>
            </a:pPr>
            <a:r>
              <a:t>Helpful for students,</a:t>
            </a:r>
            <a:br/>
            <a:r>
              <a:t>beginners and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1512" y="15087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Presentation</a:t>
            </a:r>
          </a:p>
          <a:p>
            <a:pPr algn="ctr">
              <a:spcBef>
                <a:spcPts val="1500"/>
              </a:spcBef>
              <a:defRPr sz="1250">
                <a:solidFill>
                  <a:srgbClr val="1E293B"/>
                </a:solidFill>
                <a:latin typeface="Aptos"/>
              </a:defRPr>
            </a:pPr>
            <a:r>
              <a:t>Simple problem → solution</a:t>
            </a:r>
            <a:br/>
            <a:r>
              <a:t>→ impact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69080"/>
            <a:ext cx="9921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64592" rIns="164592" bIns="109728" rtlCol="0" anchor="ctr"/>
          <a:lstStyle/>
          <a:p>
            <a:pPr algn="ctr"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The project focuses on making Linux command-line work easier, faster and more approachable.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 Next focus: strengthen intelligent assistance, testing and demonstration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5130</Words>
  <Application>WPS Presentation</Application>
  <PresentationFormat>On-screen Show (4:3)</PresentationFormat>
  <Paragraphs>325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Arial</vt:lpstr>
      <vt:lpstr>Aptos Display</vt:lpstr>
      <vt:lpstr>Helvetica Neue</vt:lpstr>
      <vt:lpstr>Aptos</vt:lpstr>
      <vt:lpstr>Segoe UI Symbol</vt:lpstr>
      <vt:lpstr>Calibri</vt:lpstr>
      <vt:lpstr>Microsoft YaHei</vt:lpstr>
      <vt:lpstr>汉仪旗黑</vt:lpstr>
      <vt:lpstr>Arial Unicode MS</vt:lpstr>
      <vt:lpstr>Thonburi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Lakshith Reddy</cp:lastModifiedBy>
  <cp:revision>2</cp:revision>
  <dcterms:created xsi:type="dcterms:W3CDTF">2026-10-08T04:06:54Z</dcterms:created>
  <dcterms:modified xsi:type="dcterms:W3CDTF">2026-10-08T04:06:54Z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11A362CAB8788AA8DE16C76A23365754_42</vt:lpwstr>
  </property>
  <property fmtid="{D5CDD505-2E9C-101B-9397-08002B2CF9AE}" pid="3" name="KSOProductBuildVer">
    <vt:lpwstr>1033-12.1.28496.28496</vt:lpwstr>
  </property>
</Properties>
</file>